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91dcd4e744d23" /><Relationship Type="http://schemas.openxmlformats.org/officeDocument/2006/relationships/extended-properties" Target="/docProps/app.xml" Id="Rdd0d6036681b4079" /><Relationship Type="http://schemas.openxmlformats.org/officeDocument/2006/relationships/officeDocument" Target="/ppt/presentation.xml" Id="R3eb136e107af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41df8898b34123"/>
  </p:sldMasterIdLst>
  <p:notesMasterIdLst>
    <p:notesMasterId xmlns:r="http://schemas.openxmlformats.org/officeDocument/2006/relationships" r:id="R69523d4a0edd4cff"/>
  </p:notesMasterIdLst>
  <p:sldIdLst>
    <p:sldId xmlns:r="http://schemas.openxmlformats.org/officeDocument/2006/relationships" id="256" r:id="R217c999b55f24f5c"/>
    <p:sldId xmlns:r="http://schemas.openxmlformats.org/officeDocument/2006/relationships" id="257" r:id="R88b5e655cb144ae7"/>
    <p:sldId xmlns:r="http://schemas.openxmlformats.org/officeDocument/2006/relationships" id="258" r:id="R54d30eaff0d64647"/>
    <p:sldId xmlns:r="http://schemas.openxmlformats.org/officeDocument/2006/relationships" id="259" r:id="R4b4869d3b8954004"/>
    <p:sldId xmlns:r="http://schemas.openxmlformats.org/officeDocument/2006/relationships" id="260" r:id="Rfd1f9542fffa4ab3"/>
    <p:sldId xmlns:r="http://schemas.openxmlformats.org/officeDocument/2006/relationships" id="261" r:id="R47d0764146f24332"/>
    <p:sldId xmlns:r="http://schemas.openxmlformats.org/officeDocument/2006/relationships" id="262" r:id="R01adf08ef2244f17"/>
    <p:sldId xmlns:r="http://schemas.openxmlformats.org/officeDocument/2006/relationships" id="263" r:id="R87bb0f18f68f4aa2"/>
    <p:sldId xmlns:r="http://schemas.openxmlformats.org/officeDocument/2006/relationships" id="264" r:id="R63ccd973c96d4b9d"/>
    <p:sldId xmlns:r="http://schemas.openxmlformats.org/officeDocument/2006/relationships" id="265" r:id="R5b5e1158193d4c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2a56f1a5704720" /><Relationship Type="http://schemas.openxmlformats.org/officeDocument/2006/relationships/slideMaster" Target="/ppt/slideMasters/slideMaster1.xml" Id="R2741df8898b34123" /><Relationship Type="http://schemas.openxmlformats.org/officeDocument/2006/relationships/notesMaster" Target="/ppt/notesMasters/notesMaster1.xml" Id="R69523d4a0edd4cff" /><Relationship Type="http://schemas.openxmlformats.org/officeDocument/2006/relationships/presProps" Target="/ppt/presProps.xml" Id="R148ab9fbee5d442c" /><Relationship Type="http://schemas.openxmlformats.org/officeDocument/2006/relationships/tableStyles" Target="/ppt/tableStyles.xml" Id="R8bbf3133cb6a40c6" /><Relationship Type="http://schemas.openxmlformats.org/officeDocument/2006/relationships/slide" Target="/ppt/slides/slide1.xml" Id="R217c999b55f24f5c" /><Relationship Type="http://schemas.openxmlformats.org/officeDocument/2006/relationships/slide" Target="/ppt/slides/slide2.xml" Id="R88b5e655cb144ae7" /><Relationship Type="http://schemas.openxmlformats.org/officeDocument/2006/relationships/slide" Target="/ppt/slides/slide3.xml" Id="R54d30eaff0d64647" /><Relationship Type="http://schemas.openxmlformats.org/officeDocument/2006/relationships/slide" Target="/ppt/slides/slide4.xml" Id="R4b4869d3b8954004" /><Relationship Type="http://schemas.openxmlformats.org/officeDocument/2006/relationships/slide" Target="/ppt/slides/slide5.xml" Id="Rfd1f9542fffa4ab3" /><Relationship Type="http://schemas.openxmlformats.org/officeDocument/2006/relationships/slide" Target="/ppt/slides/slide6.xml" Id="R47d0764146f24332" /><Relationship Type="http://schemas.openxmlformats.org/officeDocument/2006/relationships/slide" Target="/ppt/slides/slide7.xml" Id="R01adf08ef2244f17" /><Relationship Type="http://schemas.openxmlformats.org/officeDocument/2006/relationships/slide" Target="/ppt/slides/slide8.xml" Id="R87bb0f18f68f4aa2" /><Relationship Type="http://schemas.openxmlformats.org/officeDocument/2006/relationships/slide" Target="/ppt/slides/slide9.xml" Id="R63ccd973c96d4b9d" /><Relationship Type="http://schemas.openxmlformats.org/officeDocument/2006/relationships/slide" Target="/ppt/slides/slide10.xml" Id="R5b5e1158193d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a3d0eabe443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568add07a43a8" /><Relationship Type="http://schemas.openxmlformats.org/officeDocument/2006/relationships/notesMaster" Target="/ppt/notesMasters/notesMaster1.xml" Id="R23ae8441784248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cda8e78ed842f4" /><Relationship Type="http://schemas.openxmlformats.org/officeDocument/2006/relationships/notesMaster" Target="/ppt/notesMasters/notesMaster1.xml" Id="Rf80cdb636578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8ba415bd1b456c" /><Relationship Type="http://schemas.openxmlformats.org/officeDocument/2006/relationships/notesMaster" Target="/ppt/notesMasters/notesMaster1.xml" Id="Rfe08a45d684440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3ce4db01c34d7c" /><Relationship Type="http://schemas.openxmlformats.org/officeDocument/2006/relationships/notesMaster" Target="/ppt/notesMasters/notesMaster1.xml" Id="R3a335226193d42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80f4fa1af34893" /><Relationship Type="http://schemas.openxmlformats.org/officeDocument/2006/relationships/notesMaster" Target="/ppt/notesMasters/notesMaster1.xml" Id="R73612265c35f41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360547e9824883" /><Relationship Type="http://schemas.openxmlformats.org/officeDocument/2006/relationships/notesMaster" Target="/ppt/notesMasters/notesMaster1.xml" Id="R847c9633ff1d45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f7ef26277b40d5" /><Relationship Type="http://schemas.openxmlformats.org/officeDocument/2006/relationships/notesMaster" Target="/ppt/notesMasters/notesMaster1.xml" Id="Rab7ea472ee1746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404c47e9fb4e0d" /><Relationship Type="http://schemas.openxmlformats.org/officeDocument/2006/relationships/notesMaster" Target="/ppt/notesMasters/notesMaster1.xml" Id="Re691ce66502e40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68bb0bff6440f8" /><Relationship Type="http://schemas.openxmlformats.org/officeDocument/2006/relationships/notesMaster" Target="/ppt/notesMasters/notesMaster1.xml" Id="Rae067ac8033846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d7ba5ab0e44851" /><Relationship Type="http://schemas.openxmlformats.org/officeDocument/2006/relationships/notesMaster" Target="/ppt/notesMasters/notesMaster1.xml" Id="R38e3b7a424b8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פתיחה: המטרה היא להציג תהליך מלא מזיהוי סטטיסטי ועד התרעת SOC מוסברת.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https://archive.ics.uci.edu/dataset/327/phishing+websites</a:t>
            </a:r>
          </a:p>
          <a:p xmlns:a="http://schemas.openxmlformats.org/drawingml/2006/main">
            <a:r>
              <a:t>- https://attack.mitre.org/techniques/T1566/002/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הדגישו: המערכת אינה מחליפה אנליסט אלא מתעדפת ומספקת הקשר.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https://attack.mitre.org/techniques/T1566/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עברו בקצרה על הרצף. ההדגמה מפיקה metrics.json, גרפים וקובץ sample_soc_alerts.csv.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https://scikit-learn.org/stable/modules/generated/sklearn.ensemble.RandomForestClassifier.html</a:t>
            </a:r>
          </a:p>
          <a:p xmlns:a="http://schemas.openxmlformats.org/drawingml/2006/main">
            <a:r>
              <a:t>- https://scikit-learn.org/stable/modules/permutation_importance.html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המאגר כולל תווית -1 לפישינג ו-1 ללגיטימי; בקוד הומרה התווית ל-1 לפישינג.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https://archive.ics.uci.edu/dataset/327/phishing+websites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מטריצת הבלבול: 32 מקרי פישינג הוחמצו ו-33 אתרים לגיטימיים סומנו בטעות.</a:t>
            </a:r>
          </a:p>
          <a:p xmlns:a="http://schemas.openxmlformats.org/drawingml/2006/main">
            <a:r>
              <a:t>הסבירו את המשמעות התפעולית ולא רק את האחוזים.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https://scikit-learn.org/stable/modules/generated/sklearn.metrics.confusion_matrix.html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AUC מודד איכות דירוג, לא ביצוע תפעולי בסף יחיד.</a:t>
            </a:r>
          </a:p>
          <a:p xmlns:a="http://schemas.openxmlformats.org/drawingml/2006/main">
            <a:r>
              <a:t>הסף הוא החלטת סיכון ועסק, לא רק החלטת מודל.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https://scikit-learn.org/stable/modules/generated/sklearn.metrics.roc_auc_score.html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הדגישו: הסבר עוזר לאנליסט לבדוק את המודל, אך אינו מוכיח שמאפיין גרם לפישינג.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https://scikit-learn.org/stable/modules/permutation_importance.html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הראו את sample_soc_alerts.csv: הסתברות, פעולה, מאפיינים מובילים ומיפוי ATT&amp;CK.</a:t>
            </a:r>
          </a:p>
          <a:p xmlns:a="http://schemas.openxmlformats.org/drawingml/2006/main">
            <a:r>
              <a:t>קשרו את הבקרות לארבע פונקציות NIST AI RMF.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https://attack.mitre.org/techniques/T1566/002/</a:t>
            </a:r>
          </a:p>
          <a:p xmlns:a="http://schemas.openxmlformats.org/drawingml/2006/main">
            <a:r>
              <a:t>-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סיימו בהמלצה מעשית: תעדוף, הסגר ובדיקה אנושית לצד שכבות הגנה נוספות.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https://archive.ics.uci.edu/dataset/967/phiusiil+phishing+url+dataset</a:t>
            </a:r>
          </a:p>
          <a:p xmlns:a="http://schemas.openxmlformats.org/drawingml/2006/main">
            <a:r>
              <a:t>- https://attack.mitre.org/detectionstrategies/DET0107/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שקף גיבוי לסיום ולהדגמה. מלאו שמות מגישים לפני ההצגה.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https://attack.mitre.org</a:t>
            </a:r>
          </a:p>
          <a:p xmlns:a="http://schemas.openxmlformats.org/drawingml/2006/main">
            <a:r>
              <a:t>- https://doi.org/10.24432/C51W2X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3409383b34b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242e6586e44eaf" /><Relationship Type="http://schemas.openxmlformats.org/officeDocument/2006/relationships/slideLayout" Target="/ppt/slideLayouts/slideLayout1.xml" Id="Rf9adff496577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dff496577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b77da65a54f37" /><Relationship Type="http://schemas.openxmlformats.org/officeDocument/2006/relationships/notesSlide" Target="/ppt/notesSlides/notesSlide1.xml" Id="R4143603604934d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acec00e6349ca" /><Relationship Type="http://schemas.openxmlformats.org/officeDocument/2006/relationships/notesSlide" Target="/ppt/notesSlides/notesSlide2.xml" Id="Rcf228513da0247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dbb3ab32443fe" /><Relationship Type="http://schemas.openxmlformats.org/officeDocument/2006/relationships/notesSlide" Target="/ppt/notesSlides/notesSlide3.xml" Id="Rbab0039fee4042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d54f5ecf94004" /><Relationship Type="http://schemas.openxmlformats.org/officeDocument/2006/relationships/notesSlide" Target="/ppt/notesSlides/notesSlide4.xml" Id="Rb51e5bf9f67a44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b8fd6dd4f491c" /><Relationship Type="http://schemas.openxmlformats.org/officeDocument/2006/relationships/image" Target="/ppt/media/image.png" Id="R1d6045b81a6d401e" /><Relationship Type="http://schemas.openxmlformats.org/officeDocument/2006/relationships/notesSlide" Target="/ppt/notesSlides/notesSlide5.xml" Id="R65e216f58ff640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d47e4703b4cbf" /><Relationship Type="http://schemas.openxmlformats.org/officeDocument/2006/relationships/image" Target="/ppt/media/image2.png" Id="R08742e581d434201" /><Relationship Type="http://schemas.openxmlformats.org/officeDocument/2006/relationships/notesSlide" Target="/ppt/notesSlides/notesSlide6.xml" Id="Rd761e91c6b3940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e7922e62b4aef" /><Relationship Type="http://schemas.openxmlformats.org/officeDocument/2006/relationships/image" Target="/ppt/media/image3.png" Id="R6dfe59cf7702409f" /><Relationship Type="http://schemas.openxmlformats.org/officeDocument/2006/relationships/notesSlide" Target="/ppt/notesSlides/notesSlide7.xml" Id="R353ff7982d124e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29fb997c543cd" /><Relationship Type="http://schemas.openxmlformats.org/officeDocument/2006/relationships/notesSlide" Target="/ppt/notesSlides/notesSlide8.xml" Id="R85aca0e80e9a42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6650979647c1" /><Relationship Type="http://schemas.openxmlformats.org/officeDocument/2006/relationships/notesSlide" Target="/ppt/notesSlides/notesSlide9.xml" Id="R762f178f35e045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0402db19d45d5" /><Relationship Type="http://schemas.openxmlformats.org/officeDocument/2006/relationships/notesSlide" Target="/ppt/notesSlides/notesSlide10.xml" Id="R83c20c560397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65365-C6CE-42FE-9118-869F8DE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פרויקט אינטגרטיבי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99824-02E0-4E0D-B533-22ABCCF7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זיהוי אתרי פישינג</a:t>
            </a:r>
          </a:p>
          <a:p xmlns:a="http://schemas.openxmlformats.org/drawingml/2006/main">
            <a:pPr algn="r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באמצעות בינה מלאכותית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0F98-DA01-481F-9C48-8343ABEA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7365D"/>
                </a:solidFill>
              </a:defRPr>
            </a:pPr>
            <a:r>
              <a:rPr sz="1800" b="0">
                <a:solidFill>
                  <a:srgbClr val="17365D"/>
                </a:solidFill>
              </a:rPr>
              <a:t>מודל מוסבר • התרעות SOC • מיפוי ל‑MITRE ATT&amp;CK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04672-3059-4882-A09A-1C608D8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47750"/>
            <a:ext cx="2476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598ED-EF80-4227-88CB-D7C1B18A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62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97.06%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6E1C4-78C3-4AB6-B9AB-240C6DE5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812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דיוק בסט הבדיקה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33B9D-2BDE-4C04-9146-7A9BD86C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T1566.002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F3509-B63D-4471-A3C8-76B292C9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957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Spearphishing 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4AE63-436D-4057-9DB7-D462AFD3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מגישות/מגישים: 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E7680-0234-4162-BA88-5C4BF396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1</a:t>
            </a:r>
          </a:p>
        </p:txBody>
      </p:sp>
    </p:spTree>
    <p:extLst>
      <p:ext uri="{BB962C8B-B14F-4D97-AF65-F5344CB8AC3E}">
        <p14:creationId xmlns:p14="http://schemas.microsoft.com/office/powerpoint/2010/main" val="1834058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E000B-E0E1-4648-B541-D88162C8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קישורים זדוניים דורשים החלטה מהירה — אבל לא עיוורת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34261-A319-4A87-8C15-14A377B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6ED80-F2E3-417C-AC83-85553779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הבעיה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79412-2D04-425C-9E28-073549AC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בדיקה ידנית של כל קישור אינה ישימה. כללים קשיחים מתקשים להסתגל לדומיינים וטכניקות התחמקות משתנים.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39982-A230-46D3-BDC9-BDE916BA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5715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D98D5-E132-4D31-9691-AC7F3FFA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שאלת המחקר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59E69-B92C-4EF7-B56B-7E1FD962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האם אפשר לזהות פישינג על בסיס מאפייני URL ודף — ובמקביל להסביר לאנליסט מדוע התקבלה ההחלטה?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DB284-FE58-45B5-81DA-2D1C760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התשובה נבחנת באמצעות מודל, מדדים, הסבר ומיפוי CTI.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639E2-5CA0-48CE-9EFF-1767BBD6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2</a:t>
            </a:r>
          </a:p>
        </p:txBody>
      </p:sp>
    </p:spTree>
    <p:extLst>
      <p:ext uri="{BB962C8B-B14F-4D97-AF65-F5344CB8AC3E}">
        <p14:creationId xmlns:p14="http://schemas.microsoft.com/office/powerpoint/2010/main" val="391713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6D4CDB-EFCA-46C6-B50F-7C814FA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שישה שלבים הופכים נתונים גולמיים להתרעה מוסברת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3059-85C7-4152-8423-CC4207BE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E8995-6D0F-4605-AD5E-D12CD5A4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241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35313-CDA2-4039-BB2E-B2515E51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66BF7-D880-48D3-94F9-F1BA5EBB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3BA39-57BB-401D-83D2-AA352F00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67508-1E5E-46B6-AAA9-45553402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21876-6BBE-44B7-8D94-72FD4B13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3811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E85CD-A047-4C4E-A09B-D76164F9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A8EC1-207F-4FF1-AE0E-4298E1C5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טעינת ARFF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2CE7D-0394-4DCD-9F66-9A694F1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pandas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F3763-84A4-473F-A6DF-C01AF287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95500"/>
            <a:ext cx="13811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A0B1B-3708-486B-92ED-2E3AEDAB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38E9B-1653-4736-9A37-3F4C29DB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717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חלוקה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5DE84-288F-4557-97CC-36CC1E3C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80/20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D06D8-7770-4AFD-9DCC-E1404324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3811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A17D7-2150-4C0D-ADF9-E268CE44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593B3-0096-4EAB-9A6A-F282E339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אימון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F280D-5342-4A6B-8228-96BF4DD6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Random Forest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58C1B-A5FE-4875-9395-072744C5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13811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B0224-A7C3-4DAB-9171-D6863D0A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DAC22-7859-4E21-BA75-43D4AB8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717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הערכה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BDD68-A437-4134-9A9B-B3B149DF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480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F1 + AUC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0873E-5043-4B03-BC06-7119935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13811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95B3C-6489-4492-87BC-7FFC4F28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DD4C2-E469-4137-84BD-A54EADDF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הסבר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C717B-3558-4BCF-9BB5-C49359BE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480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Permutation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92AAA-B263-4E34-AFF1-D248860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13811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C5EC1-56AA-484D-A6A6-7DEE5E55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326B5-1D61-4704-83DB-F32328F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717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SOC / CTI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27815A-A028-4BAC-95DE-BB8C7B2C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04800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3"/>
                </a:solidFill>
              </a:defRPr>
            </a:pPr>
            <a:r>
              <a:rPr sz="1200" b="0">
                <a:solidFill>
                  <a:srgbClr val="5B6573"/>
                </a:solidFill>
              </a:rPr>
              <a:t>T1566.002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EC9F4-57E9-48EB-A5C0-BEDED964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3387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הפלט: הסתברות, החלטה, גורמי השפעה, סף פעולה והקשר MITRE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0E8024-BF8F-42F9-B6B6-D2C70F52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3</a:t>
            </a:r>
          </a:p>
        </p:txBody>
      </p:sp>
    </p:spTree>
    <p:extLst>
      <p:ext uri="{BB962C8B-B14F-4D97-AF65-F5344CB8AC3E}">
        <p14:creationId xmlns:p14="http://schemas.microsoft.com/office/powerpoint/2010/main" val="118187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0D629-945E-4C08-8927-7FC72FC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הניסוי ניתן לשחזור ונמנע מגלישה לאתרים מסוכנים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FB8DB-51FB-46C0-86C9-50052E1C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C7DEF-100B-4E22-80B6-E9ED1B53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DC4B8-BB31-464A-B64F-EBC46110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11,055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CD703-91BF-4B6C-AE0C-A5BDD2B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רשומות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24F20-30F7-435D-9016-E1720D64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9EDCC-001C-4359-A406-E3CFBF01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478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8F970-9D58-45FF-BF9C-FC43F2E9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098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מאפיינים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A8E80-69EC-443A-97E6-00F3C122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47F80-FAE5-4E69-8907-3826C542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478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2,211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772B2-7270-46D1-9DC2-37E2CA1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דוגמאות בדיקה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501CB-510E-479C-8357-7E40BC3C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מתודולוגיה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0712B-B69C-43D3-854B-6425BDB7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447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79096-C71B-4954-B7B8-D2ECAC55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3362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פיצול Stratified: 80% אימון / 20% בדיקה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38293-74B7-41F2-8E8B-6E73968E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067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C9276-9C38-4707-94C9-E74DDB65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300 עצים, class_weight מאוזן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11377-8284-4803-9718-FAEB5436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86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C359D-9C99-4E93-9F89-2AAF858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718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random_state=42 לשחזור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969E8-9F81-46E1-B594-8162906E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B8B95-4052-4C65-9F52-05224CC1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היבט בטיחותי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B2180-3750-4175-92CE-FC2802C7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790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המערכת אינה פותחת URL ואינה מפעילה קוד. היא מנתחת מאפיינים מספריים שהופקו מראש על ידי מחברי המאגר.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E2D02-AA9E-49D9-A4C4-FDADD64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4</a:t>
            </a:r>
          </a:p>
        </p:txBody>
      </p:sp>
    </p:spTree>
    <p:extLst>
      <p:ext uri="{BB962C8B-B14F-4D97-AF65-F5344CB8AC3E}">
        <p14:creationId xmlns:p14="http://schemas.microsoft.com/office/powerpoint/2010/main" val="1428836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65D79-EAAC-4197-8FD8-02254954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המודל מזהה 96.73% ממקרי הפישינג בסט הבדיקה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EF669-BD31-450B-9B42-6EEEA2E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045b81a6d401e"/>
          <a:stretch xmlns:a="http://schemas.openxmlformats.org/drawingml/2006/main"/>
        </p:blipFill>
        <p:spPr>
          <a:xfrm xmlns:a="http://schemas.openxmlformats.org/drawingml/2006/main">
            <a:off x="1035844" y="1524000"/>
            <a:ext cx="5167313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C7356-1FC3-47BC-A700-2D63DF9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819BC-3B84-47B3-9000-53AA88A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621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97.06%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F202-87C7-4DEA-A4C5-DB943378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7C58E-965A-4385-8AEC-AF697019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C4D99-DDC8-4E21-8C2C-DEAE9A6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621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96.64%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DDA83-E6D9-410D-B24B-4169D0BC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95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8A148-CAC0-48DD-A542-6F9A4B8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4E5FC-8ABB-4FE2-9B1A-95B35957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814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65D"/>
                </a:solidFill>
              </a:defRPr>
            </a:pPr>
            <a:r>
              <a:rPr sz="2550" b="1">
                <a:solidFill>
                  <a:srgbClr val="17365D"/>
                </a:solidFill>
              </a:rPr>
              <a:t>96.73%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208BB-216E-4FF9-9332-DC6F898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D39B1-6667-4BB8-B352-1A95972D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00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18491-049B-478B-9BAF-99186540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814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96.69%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99EC7-52FD-4F4B-B3E1-C5E78F6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</a:defRPr>
            </a:pPr>
            <a:r>
              <a:rPr sz="1275" b="0">
                <a:solidFill>
                  <a:srgbClr val="5B6573"/>
                </a:solidFill>
              </a:rPr>
              <a:t>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B722C-6141-45F2-907A-044DD0D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48250"/>
            <a:ext cx="4238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3261E"/>
                </a:solidFill>
              </a:defRPr>
            </a:pPr>
            <a:r>
              <a:rPr sz="1500" b="1">
                <a:solidFill>
                  <a:srgbClr val="B3261E"/>
                </a:solidFill>
              </a:rPr>
              <a:t>32 False Negatives הם הסיכון העיקרי: קישור זדוני שלא נחסם.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58501-9110-4A1C-8A37-07E6984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5</a:t>
            </a:r>
          </a:p>
        </p:txBody>
      </p:sp>
    </p:spTree>
    <p:extLst>
      <p:ext uri="{BB962C8B-B14F-4D97-AF65-F5344CB8AC3E}">
        <p14:creationId xmlns:p14="http://schemas.microsoft.com/office/powerpoint/2010/main" val="3855346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F2CC6-6875-4E15-AC3C-B9EE7C0B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ROC‑AUC של 0.996 מעיד על יכולת דירוג גבוהה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26EDF-7607-4BFC-841E-7089B9AB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42e581d434201"/>
          <a:stretch xmlns:a="http://schemas.openxmlformats.org/drawingml/2006/main"/>
        </p:blipFill>
        <p:spPr>
          <a:xfrm xmlns:a="http://schemas.openxmlformats.org/drawingml/2006/main">
            <a:off x="1379293" y="1524000"/>
            <a:ext cx="5337663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67D36-46A1-454E-B08F-67AE086D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619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D2F19-7099-46F2-8F5E-8A95A66A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מה זה אומר?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0FDFE-B526-4344-951E-EBDCC1BE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המודל מפריד היטב בין שתי המחלקות לאורך מגוון ספים.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DC158-8600-4D1A-A127-19A999BD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אבל AUC גבוה אינו קובע את סף החסימה. הסף חייב לשקף את עלות הטעות ואת יכולת צוות ה‑SOC.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5F051-48EB-4149-B83E-885F3B58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6</a:t>
            </a:r>
          </a:p>
        </p:txBody>
      </p:sp>
    </p:spTree>
    <p:extLst>
      <p:ext uri="{BB962C8B-B14F-4D97-AF65-F5344CB8AC3E}">
        <p14:creationId xmlns:p14="http://schemas.microsoft.com/office/powerpoint/2010/main" val="1370816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E7E63-D0B6-4D4A-948F-C638B509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ההסבר חושף אילו מאפיינים המודל צריך — וגם היכן הוא עלול לטעות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B1011-FF92-492F-B34B-B4D4699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e59cf7702409f"/>
          <a:stretch xmlns:a="http://schemas.openxmlformats.org/drawingml/2006/main"/>
        </p:blipFill>
        <p:spPr>
          <a:xfrm xmlns:a="http://schemas.openxmlformats.org/drawingml/2006/main">
            <a:off x="1195820" y="1571625"/>
            <a:ext cx="6180859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CA025-7800-4F74-908E-1C353FD3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שני הגורמים המובילים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AB9A5-E4D6-4C60-9754-09D3877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SSLfinal_State</a:t>
            </a:r>
          </a:p>
          <a:p xmlns:a="http://schemas.openxmlformats.org/drawingml/2006/main">
            <a:pPr algn="r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URL_of_Anchor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99FDF-4ACA-430D-B318-9ED7B1E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3261E"/>
                </a:solidFill>
              </a:defRPr>
            </a:pPr>
            <a:r>
              <a:rPr sz="1650" b="1">
                <a:solidFill>
                  <a:srgbClr val="B3261E"/>
                </a:solidFill>
              </a:rPr>
              <a:t>הסבר גלובלי, לא סיבתי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038D5-288B-4029-9CBE-94A13B3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4337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573"/>
                </a:solidFill>
              </a:defRPr>
            </a:pPr>
            <a:r>
              <a:rPr sz="1425" b="0">
                <a:solidFill>
                  <a:srgbClr val="5B6573"/>
                </a:solidFill>
              </a:rPr>
              <a:t>Permutation Importance מודד ירידה ב‑F1 לאחר ערבוב מאפיין. מאפיינים מתואמים יכולים לחלוק חשיבות.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CA85A-8C11-4CBD-AABF-B6BD467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7</a:t>
            </a:r>
          </a:p>
        </p:txBody>
      </p:sp>
    </p:spTree>
    <p:extLst>
      <p:ext uri="{BB962C8B-B14F-4D97-AF65-F5344CB8AC3E}">
        <p14:creationId xmlns:p14="http://schemas.microsoft.com/office/powerpoint/2010/main" val="229041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AB735-2B6B-4137-9733-2C87A18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התרעה טובה משלבת ציון, הקשר ויכולת התערבות אנושית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AC7F5-8E9C-4FE0-8A85-7D88ABF6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F7FB6-36FC-484F-A048-642A382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מדיניות הדגמה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DA765-63AB-4D3E-B04B-130B3D2D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079B2-0CA9-493C-8687-7FBAFB0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261E"/>
                </a:solidFill>
              </a:defRPr>
            </a:pPr>
            <a:r>
              <a:rPr sz="1875" b="1">
                <a:solidFill>
                  <a:srgbClr val="B3261E"/>
                </a:solidFill>
              </a:rPr>
              <a:t>&gt;= 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8DC4F-32BF-4EFC-ACAD-3066692A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9077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Block and investigate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6F870-D53B-4EA6-9386-C6537C7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D6AE-FA5E-43E0-8BFE-0F9D297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0.50–0.79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58AFF-ED03-46EB-993A-967C9DE6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9090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Quarantine for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A11CA-129A-406C-9D5F-1086A480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1E576-908F-4332-8B2A-57B7FF86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6573"/>
                </a:solidFill>
              </a:defRPr>
            </a:pPr>
            <a:r>
              <a:rPr sz="1875" b="1">
                <a:solidFill>
                  <a:srgbClr val="5B6573"/>
                </a:solidFill>
              </a:rPr>
              <a:t>&lt; 0.50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C4A61-C794-406E-B60D-943CAC4E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91025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A4259-708D-4FB8-81F8-1F236118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524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455FF-BEF8-46E1-B7A7-C3364D27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MITRE ATT&amp;CK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DD230-CD95-4207-A1A6-4579564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57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Initial Access • T1566.002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57C30-45FF-41EA-A0DF-F2C7A75B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NIST AI RMF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D2E70-389A-4136-8634-A475AD1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0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Govern  •  Map  •  Measure  •  Manage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1F99B-6214-401C-A3B7-7A743F62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100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B6573"/>
                </a:solidFill>
              </a:defRPr>
            </a:pPr>
            <a:r>
              <a:rPr sz="1500" b="0">
                <a:solidFill>
                  <a:srgbClr val="5B6573"/>
                </a:solidFill>
              </a:rPr>
              <a:t>בקרות: ניטור drift, ספים מדורגים, תיעוד, בדיקה אנושית ויכולת השבתה.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9BFE3-14C0-4DBB-A4AA-4F9BAD79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8</a:t>
            </a:r>
          </a:p>
        </p:txBody>
      </p:sp>
    </p:spTree>
    <p:extLst>
      <p:ext uri="{BB962C8B-B14F-4D97-AF65-F5344CB8AC3E}">
        <p14:creationId xmlns:p14="http://schemas.microsoft.com/office/powerpoint/2010/main" val="1767709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B3B88-8344-4299-8BB1-11FEE1C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הביצועים מבטיחים — אך המאגר הישן מחייב אימות נוסף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2D0B0-64F6-4D94-BE97-CA7C8CF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A95F1-5B94-4307-B28B-FC2859CD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3261E"/>
                </a:solidFill>
              </a:defRPr>
            </a:pPr>
            <a:r>
              <a:rPr sz="1875" b="1">
                <a:solidFill>
                  <a:srgbClr val="B3261E"/>
                </a:solidFill>
              </a:rPr>
              <a:t>מגבלות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C36DE-006F-47AA-88FC-06E52B6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52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7EB22-87CA-4661-881F-50328980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המאגר נתרם ב‑2015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D340-031D-4FFE-A513-B23A8A1D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81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37AD8-5A83-4DB5-9A65-B7D98EDC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פיצול אקראי עלול להקל על המשימה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89F26-6B00-4758-ABE1-702CE311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6674D-6AF0-48E8-8912-2D3992B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אין תוכן הודעה או רצף אירועים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5E9A9-098C-4D3B-94E7-D1D8492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68BE6-2810-4B17-AFA9-1EE9095C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פישינג מודרני משתנה במהירות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491F4-0FE4-4DB3-B18C-A2C078A8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המשך מומלץ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D668D-9714-44C9-B3DE-A917BEC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352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5FDA1-1AE5-4A69-BF54-03A5C0A4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בדיקה על PhiUSIIL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C371A-0657-4C3C-BDA9-24054917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981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5487D-E5D6-47FB-91DC-B63D7569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חלוקה לפי זמן או דומיין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B9A1F-B570-4C3D-B9AE-A245D3BB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7B5CA-6A34-4464-8729-8C573F35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9567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BERT לניתוח טקסט ההודעה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61247-C8BB-4185-9864-EB62886F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A6FDE-FB7B-4493-85E7-BD2728A3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24325"/>
            <a:ext cx="490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MISP + Proxy + אירועי קצה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DE4AE-CC57-49B3-B22E-2FD5389A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58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6FE09-7D53-4E80-9DE1-1F2BECBA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המודל מתאים לתעדוף בתוך מערך הגנה רב‑שכבתי — לא כמנגנון החלטה יחיד.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86D59-03FA-49E5-8734-DB3A4168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9</a:t>
            </a:r>
          </a:p>
        </p:txBody>
      </p:sp>
    </p:spTree>
    <p:extLst>
      <p:ext uri="{BB962C8B-B14F-4D97-AF65-F5344CB8AC3E}">
        <p14:creationId xmlns:p14="http://schemas.microsoft.com/office/powerpoint/2010/main" val="1473061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3F87B-91ED-450A-8FDD-A1E39839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מקורות והדגמה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1E64B-480C-484D-945B-2C439B89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87B6B-69E9-4230-9D1A-68993C6F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מקורות חובה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399C0-F1FD-42E4-9775-F71DCA73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28DA1-F91C-4800-88C3-9C8B0DD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Chio &amp; Freeman (2018) — Machine Learning and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B3753-59C2-4DED-ADDE-75CCF668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B1646-67AB-4F77-A5BD-C417F158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MITRE ATT&amp;CK (2024) — attack.mitre.org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A9747-2FAD-46B2-85F4-3ECF096F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00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0F55C-EC4A-48B7-BC3E-FDBA1FD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NIST (2023) — AI RMF 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9513F-3F28-4CDE-981B-9C78315D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340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9BCE3-551F-42F9-88A3-8BD06A3B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מה להדגים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A2F1C-732E-4164-87BC-78007E8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33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22BEA-E15A-48CD-B404-E054B33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19375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הרצת phishing_detection.py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2D6DE-A4B4-4056-BBD5-CEEEB74E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81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D430E-A9EB-4F76-9B9E-7C4D6856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67075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הצגת metrics.json והגרפים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103EA-60CC-4499-A940-258E6107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029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CFEAF-BF23-4EA1-820F-F1BF39CB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14775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פתיחת sample_soc_alerts.csv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1324F-414A-4D99-A6C3-91E68161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00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כל התוצרים נוצרו מאותה הרצה עם random_state=42.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E681E-4383-43C4-92FE-125E28A2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</a:defRPr>
            </a:pPr>
            <a:r>
              <a:rPr sz="900" b="0">
                <a:solidFill>
                  <a:srgbClr val="5B6573"/>
                </a:solidFill>
              </a:rPr>
              <a:t>HIT | מבוא לאבטחת מידע וסייבר     10</a:t>
            </a:r>
          </a:p>
        </p:txBody>
      </p:sp>
    </p:spTree>
    <p:extLst>
      <p:ext uri="{BB962C8B-B14F-4D97-AF65-F5344CB8AC3E}">
        <p14:creationId xmlns:p14="http://schemas.microsoft.com/office/powerpoint/2010/main" val="1408394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2026-08-29T15:21:10.2610000Z</dcterms:created>
  <dcterms:modified xsi:type="dcterms:W3CDTF">2026-08-29T15:21:10.2610000Z</dcterms:modified>
</coreProperties>
</file>